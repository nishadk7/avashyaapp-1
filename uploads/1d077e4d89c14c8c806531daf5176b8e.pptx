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00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4660"/>
  </p:normalViewPr>
  <p:slideViewPr>
    <p:cSldViewPr snapToGrid="0">
      <p:cViewPr varScale="1">
        <p:scale>
          <a:sx n="68" d="100"/>
          <a:sy n="68" d="100"/>
        </p:scale>
        <p:origin x="9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48F95-B5A0-4834-8D51-0A821EC1747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756ABB-08A4-44A0-B881-F14289E33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17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56ABB-08A4-44A0-B881-F14289E33E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887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building, we established clear performance targets and constraints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56ABB-08A4-44A0-B881-F14289E33E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43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decoupled, three-tier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56ABB-08A4-44A0-B881-F14289E33E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23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Boto3 is a synchronous library, so </a:t>
            </a:r>
            <a:r>
              <a:rPr lang="en-US" dirty="0" err="1"/>
              <a:t>fastAPI</a:t>
            </a:r>
            <a:r>
              <a:rPr lang="en-US" dirty="0"/>
              <a:t> uses </a:t>
            </a:r>
            <a:r>
              <a:rPr lang="en-US" dirty="0" err="1"/>
              <a:t>ThreadPool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56ABB-08A4-44A0-B881-F14289E33E0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92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prevents in-flight messages from becoming visible again and being double-processed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 polling so that the queue doesn’t get polled way to often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56ABB-08A4-44A0-B881-F14289E33E0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63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AMI was stored in the AWS ECR service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56ABB-08A4-44A0-B881-F14289E33E0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52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solidFill>
                  <a:schemeClr val="accent5">
                    <a:lumMod val="76000"/>
                  </a:schemeClr>
                </a:solidFill>
                <a:latin typeface="Papyrus"/>
              </a:rPr>
              <a:t>Image Recognition as a Service</a:t>
            </a:r>
          </a:p>
        </p:txBody>
      </p:sp>
      <p:pic>
        <p:nvPicPr>
          <p:cNvPr id="4" name="Picture 3" descr="Fastapi Icon icon - Free Download PNG &amp; SVG | Streamline">
            <a:extLst>
              <a:ext uri="{FF2B5EF4-FFF2-40B4-BE49-F238E27FC236}">
                <a16:creationId xmlns:a16="http://schemas.microsoft.com/office/drawing/2014/main" id="{5455F81B-3F44-8EEF-B696-BE719DBAA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279" y="4351565"/>
            <a:ext cx="869043" cy="876300"/>
          </a:xfrm>
          <a:prstGeom prst="rect">
            <a:avLst/>
          </a:prstGeom>
        </p:spPr>
      </p:pic>
      <p:pic>
        <p:nvPicPr>
          <p:cNvPr id="5" name="Picture 4" descr="File:Python-logo-notext.svg - Wikimedia Commons">
            <a:extLst>
              <a:ext uri="{FF2B5EF4-FFF2-40B4-BE49-F238E27FC236}">
                <a16:creationId xmlns:a16="http://schemas.microsoft.com/office/drawing/2014/main" id="{F34C36D1-207F-9920-C65E-CA22E821B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165" y="4351564"/>
            <a:ext cx="869044" cy="876301"/>
          </a:xfrm>
          <a:prstGeom prst="rect">
            <a:avLst/>
          </a:prstGeom>
        </p:spPr>
      </p:pic>
      <p:pic>
        <p:nvPicPr>
          <p:cNvPr id="6" name="Graphic 5" descr="Aws Ec2 Logo SVG - Free Download">
            <a:extLst>
              <a:ext uri="{FF2B5EF4-FFF2-40B4-BE49-F238E27FC236}">
                <a16:creationId xmlns:a16="http://schemas.microsoft.com/office/drawing/2014/main" id="{481522B0-D8E1-839C-B1F8-A924835078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4586" y="4348843"/>
            <a:ext cx="881744" cy="867229"/>
          </a:xfrm>
          <a:prstGeom prst="rect">
            <a:avLst/>
          </a:prstGeom>
        </p:spPr>
      </p:pic>
      <p:pic>
        <p:nvPicPr>
          <p:cNvPr id="9" name="Picture 8" descr="A white circle with arrows and a square in the middle&#10;&#10;AI-generated content may be incorrect.">
            <a:extLst>
              <a:ext uri="{FF2B5EF4-FFF2-40B4-BE49-F238E27FC236}">
                <a16:creationId xmlns:a16="http://schemas.microsoft.com/office/drawing/2014/main" id="{1F061DBA-FCCA-5DCC-9CA0-0E4DD71E6A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336" y="4351565"/>
            <a:ext cx="883557" cy="876300"/>
          </a:xfrm>
          <a:prstGeom prst="rect">
            <a:avLst/>
          </a:prstGeom>
        </p:spPr>
      </p:pic>
      <p:pic>
        <p:nvPicPr>
          <p:cNvPr id="10" name="Picture 9" descr="A white line on a green background&#10;&#10;AI-generated content may be incorrect.">
            <a:extLst>
              <a:ext uri="{FF2B5EF4-FFF2-40B4-BE49-F238E27FC236}">
                <a16:creationId xmlns:a16="http://schemas.microsoft.com/office/drawing/2014/main" id="{1F80888A-27EE-172C-E247-EF82CF1DB0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6316" y="4347028"/>
            <a:ext cx="899886" cy="87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DCBE5-8157-390E-25DD-31A278CF0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Engineering Requirements &amp; Constraints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9289F-4CFB-3946-6143-9514C6A25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Face-Recognition API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/>
              <a:t>➔</a:t>
            </a:r>
            <a:r>
              <a:rPr lang="en-US" dirty="0">
                <a:latin typeface="Calibri"/>
                <a:ea typeface="Calibri"/>
                <a:cs typeface="Calibri"/>
              </a:rPr>
              <a:t> Serves deep learning model inference over HTTP. </a:t>
            </a:r>
          </a:p>
          <a:p>
            <a:r>
              <a:rPr lang="en-US" b="1" dirty="0">
                <a:latin typeface="Calibri"/>
                <a:ea typeface="Calibri"/>
                <a:cs typeface="Calibri"/>
              </a:rPr>
              <a:t>Target Performance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/>
              <a:t>➔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Calibri"/>
                <a:ea typeface="Calibri"/>
                <a:cs typeface="Calibri"/>
              </a:rPr>
              <a:t>Handle 1000 concurrent requests.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Calibri"/>
                <a:ea typeface="Calibri"/>
                <a:cs typeface="Calibri"/>
              </a:rPr>
              <a:t>Achieve an average latency of 2 seconds. (or better)</a:t>
            </a:r>
          </a:p>
          <a:p>
            <a:pPr marL="0" indent="0"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b="1" dirty="0">
                <a:latin typeface="Calibri"/>
                <a:ea typeface="Calibri"/>
                <a:cs typeface="Calibri"/>
              </a:rPr>
              <a:t>Constraints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/>
              <a:t>➔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Calibri"/>
                <a:ea typeface="Calibri"/>
                <a:cs typeface="Calibri"/>
              </a:rPr>
              <a:t> Strictly ultra cost-effective system design. (broke grad student)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Calibri"/>
                <a:ea typeface="Calibri"/>
                <a:cs typeface="Calibri"/>
              </a:rPr>
              <a:t>Highly scalable and fault tolerant solution. </a:t>
            </a:r>
          </a:p>
        </p:txBody>
      </p:sp>
    </p:spTree>
    <p:extLst>
      <p:ext uri="{BB962C8B-B14F-4D97-AF65-F5344CB8AC3E}">
        <p14:creationId xmlns:p14="http://schemas.microsoft.com/office/powerpoint/2010/main" val="1500566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C7BD6-2278-7085-B6F8-F495FC7DE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High-Level System Architecture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5C49D0-DA80-CBE5-A152-59A5237DA6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44915" y="1514865"/>
            <a:ext cx="8098971" cy="463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858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0F61-B475-257B-F0FC-42E7FB1C2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Web Tier</a:t>
            </a:r>
          </a:p>
        </p:txBody>
      </p:sp>
      <p:pic>
        <p:nvPicPr>
          <p:cNvPr id="4" name="Content Placeholder 3" descr="A diagram of a computer chip&#10;&#10;AI-generated content may be incorrect.">
            <a:extLst>
              <a:ext uri="{FF2B5EF4-FFF2-40B4-BE49-F238E27FC236}">
                <a16:creationId xmlns:a16="http://schemas.microsoft.com/office/drawing/2014/main" id="{6620238D-3119-AD6F-79E3-AC1C19307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587" r="2959"/>
          <a:stretch>
            <a:fillRect/>
          </a:stretch>
        </p:blipFill>
        <p:spPr>
          <a:xfrm>
            <a:off x="9859271" y="898866"/>
            <a:ext cx="1501377" cy="506550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0C3946-221D-AC52-93BB-F2832368908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8897257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>
                <a:latin typeface="Calibri"/>
                <a:ea typeface="Calibri"/>
                <a:cs typeface="Calibri"/>
              </a:rPr>
              <a:t>FastAPI</a:t>
            </a:r>
            <a:r>
              <a:rPr lang="en-US" sz="2400" dirty="0">
                <a:latin typeface="Calibri"/>
                <a:ea typeface="Calibri"/>
                <a:cs typeface="Calibri"/>
              </a:rPr>
              <a:t> ➔ Offloads blocking S3/SQS I/O to background threads.</a:t>
            </a: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Greedy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Autoscaler</a:t>
            </a:r>
            <a:r>
              <a:rPr lang="en-US" sz="2400" dirty="0">
                <a:latin typeface="Calibri"/>
                <a:ea typeface="Calibri"/>
                <a:cs typeface="Calibri"/>
              </a:rPr>
              <a:t> ➔ Scales workers based on SQS backlog.</a:t>
            </a: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Response Resolution➔ Polls the Responses SQS repeatedly to resolve requests.</a:t>
            </a: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S3 Output Bucket Cache ➔ Bypasses App Tier for duplicate requests</a:t>
            </a: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093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789D-6CD2-7F8D-5AC9-464128EB5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AWS SQS Configuration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0B9D4-FCFC-CD74-4632-F932A5826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7005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SQS Queue ➔ Delivers near-infinite throughput at lower operational cost.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Tuned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VisibilityTimeout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➔ Prevents duplicate processing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10s Long Polling ➔ Eliminates CPU busy-waiting and lowers SQS API billing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diagram of a response queue&#10;&#10;AI-generated content may be incorrect.">
            <a:extLst>
              <a:ext uri="{FF2B5EF4-FFF2-40B4-BE49-F238E27FC236}">
                <a16:creationId xmlns:a16="http://schemas.microsoft.com/office/drawing/2014/main" id="{8EB075A2-E493-6B6B-7236-29256FB95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641" y="1230993"/>
            <a:ext cx="2296432" cy="526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9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E07A5-7F95-7916-8C22-907C0A95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App Tier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C7694-0402-31F1-5435-AB9127D65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0954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Pre-Baked Custom AMI ➔ Minimizes cold-start times.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Decoupled Payloads ➔ Downloads from S3 to keep SQS light.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Instances automatically scale in ➔  When no pending requests remain.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Dual-Output Pattern 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S3 output bucket for persistent results.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SQS response queue for serving requests immediately.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500ED7-19BB-37FD-8D79-EFF08FC68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9285" y="1030514"/>
            <a:ext cx="2399657" cy="468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30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584A-7764-898A-3551-680B0FBED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AWS S3 Design Decisions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9BE9BD9-A1E4-5820-E89F-4F733A561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0954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Dual-Bucket Structure ➔ Isolates untrusted user inputs from results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Predictable Key Schemas ➔ Allows instant direct-lookup caching by filename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diagram of a software output bucket&#10;&#10;AI-generated content may be incorrect.">
            <a:extLst>
              <a:ext uri="{FF2B5EF4-FFF2-40B4-BE49-F238E27FC236}">
                <a16:creationId xmlns:a16="http://schemas.microsoft.com/office/drawing/2014/main" id="{B06D8B0D-A9AF-902D-D263-04EE46922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037" y="1103086"/>
            <a:ext cx="2371182" cy="465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740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9D39-2C7B-BE4D-91BA-9358DD313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6000"/>
                  </a:schemeClr>
                </a:solidFill>
                <a:latin typeface="Papyrus"/>
              </a:rPr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07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1030</TotalTime>
  <Words>281</Words>
  <Application>Microsoft Office PowerPoint</Application>
  <PresentationFormat>Widescreen</PresentationFormat>
  <Paragraphs>50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Courier New</vt:lpstr>
      <vt:lpstr>Courier New,monospace</vt:lpstr>
      <vt:lpstr>Papyrus</vt:lpstr>
      <vt:lpstr>office theme</vt:lpstr>
      <vt:lpstr>Image Recognition as a Service</vt:lpstr>
      <vt:lpstr>Engineering Requirements &amp; Constraints</vt:lpstr>
      <vt:lpstr>High-Level System Architecture</vt:lpstr>
      <vt:lpstr>Web Tier</vt:lpstr>
      <vt:lpstr>AWS SQS Configuration choices</vt:lpstr>
      <vt:lpstr>App Tier</vt:lpstr>
      <vt:lpstr>AWS S3 Design Decisions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nishad kulkarni</dc:creator>
  <cp:lastModifiedBy>nishad kulkarni</cp:lastModifiedBy>
  <cp:revision>129</cp:revision>
  <dcterms:created xsi:type="dcterms:W3CDTF">2026-07-06T15:28:36Z</dcterms:created>
  <dcterms:modified xsi:type="dcterms:W3CDTF">2026-07-08T05:48:10Z</dcterms:modified>
</cp:coreProperties>
</file>